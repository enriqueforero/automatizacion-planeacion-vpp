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SEGUIMIENTO {{TRIMESTRE}}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{{UNIDAD}}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99999"/>
                </a:solidFill>
                <a:latin typeface="Calibri"/>
              </a:rPr>
              <a:t>Planeación Estratégica {{AÑO}} — ProColombia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99"/>
                </a:solidFill>
                <a:latin typeface="Calibri"/>
              </a:rPr>
              <a:t>{{TIPO}}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{{TIPO}} — {{UNIDAD}}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B3A5C"/>
                </a:solidFill>
                <a:latin typeface="Calibri"/>
              </a:rPr>
              <a:t>{{UNIDAD}}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DOFA — {{UNIDAD}}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53035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DEBILIDADES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{{DEB_BASE_1}}
{{DEB_BASE_2}}
{{DEB_BASE_3}}
{{DEB_BASE_4}}
{{DEB_BASE_5}}
{{DEB_BASE_6}}
{{DEB_BASE_7}}
{{DEB_BASE_8}}
{{DEB_BASE_9}}
{{DEB_BASE_10}}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777240"/>
            <a:ext cx="5303520" cy="274320"/>
          </a:xfrm>
          <a:prstGeom prst="rect">
            <a:avLst/>
          </a:prstGeom>
          <a:solidFill>
            <a:srgbClr val="2E6D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OPORTUNIDADES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0972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{{OPO_BASE_1}}
{{OPO_BASE_2}}
{{OPO_BASE_3}}
{{OPO_BASE_4}}
{{OPO_BASE_5}}
{{OPO_BASE_6}}
{{OPO_BASE_7}}
{{OPO_BASE_8}}
{{OPO_BASE_9}}
{{OPO_BASE_10}}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520440"/>
            <a:ext cx="53035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FORTALEZAS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840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{{FOR_BASE_1}}
{{FOR_BASE_2}}
{{FOR_BASE_3}}
{{FOR_BASE_4}}
{{FOR_BASE_5}}
{{FOR_BASE_6}}
{{FOR_BASE_7}}
{{FOR_BASE_8}}
{{FOR_BASE_9}}
{{FOR_BASE_10}}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3520440"/>
            <a:ext cx="5303520" cy="27432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AMENAZAS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384048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{{AME_BASE_1}}
{{AME_BASE_2}}
{{AME_BASE_3}}
{{AME_BASE_4}}
{{AME_BASE_5}}
{{AME_BASE_6}}
{{AME_BASE_7}}
{{AME_BASE_8}}
{{AME_BASE_9}}
{{AME_BASE_10}}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{{UNIDAD}} — LÍNEAS ESTRATÉGICAS PROPIAS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5C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{{LE1_NOMBRE}}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5C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920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{{LE2_NOMBRE}}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26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5C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{{LE3_NOMBRE}}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931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5C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319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{{LE4_NOMBRE}}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9377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B3A5C"/>
                </a:solidFill>
                <a:latin typeface="Calibri"/>
              </a:rPr>
              <a:t>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937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{{LE5_NOMBRE}}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HOJA DE RUTA ({{UNIDAD}})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{{LE1_NOMBRE}}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{{LE1_ACC_1}}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{{LE1_ACT_1}}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{{LE1_ACC_2}}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{{LE1_ACT_2}}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{{LE1_ACC_3}}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{{LE1_ACT_3}}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{{LE1_ACC_4}}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{{LE1_ACT_4}}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{{LE1_ACC_5}}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{{LE1_ACT_5}}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{{LE1_ACC_6}}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{{LE1_ACT_6}}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{{LE1_RES_4}}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HOJA DE RUTA ({{UNIDAD}})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{{LE2_NOMBRE}}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{{LE2_ACC_1}}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{{LE2_ACT_1}}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{{LE2_ACC_2}}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{{LE2_ACT_2}}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{{LE2_ACC_3}}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{{LE2_ACT_3}}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{{LE2_ACC_4}}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{{LE2_ACT_4}}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{{LE2_ACC_5}}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{{LE2_ACT_5}}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{{LE2_ACC_6}}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{{LE2_ACT_6}}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{{LE2_RES_4}}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HOJA DE RUTA ({{UNIDAD}})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{{LE3_NOMBRE}}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{{LE3_ACC_1}}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{{LE3_ACT_1}}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{{LE3_ACC_2}}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{{LE3_ACT_2}}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{{LE3_ACC_3}}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{{LE3_ACT_3}}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{{LE3_ACC_4}}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{{LE3_ACT_4}}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{{LE3_ACC_5}}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{{LE3_ACT_5}}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{{LE3_ACC_6}}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{{LE3_ACT_6}}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{{LE3_RES_4}}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HOJA DE RUTA ({{UNIDAD}})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{{LE4_NOMBRE}}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{{LE4_ACC_1}}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{{LE4_ACT_1}}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{{LE4_ACC_2}}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{{LE4_ACT_2}}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{{LE4_ACC_3}}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{{LE4_ACT_3}}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{{LE4_ACC_4}}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{{LE4_ACT_4}}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{{LE4_ACC_5}}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{{LE4_ACT_5}}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{{LE4_ACC_6}}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{{LE4_ACT_6}}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{{LE4_RES_4}}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HOJA DE RUTA ({{UNIDAD}})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{{LE5_NOMBRE}}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{{LE5_ACC_1}}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{{LE5_ACT_1}}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{{LE5_ACC_2}}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{{LE5_ACT_2}}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{{LE5_ACC_3}}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{{LE5_ACT_3}}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{{LE5_ACC_4}}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{{LE5_ACT_4}}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{{LE5_ACC_5}}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{{LE5_ACT_5}}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{{LE5_ACC_6}}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{{LE5_ACT_6}}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{{LE5_RES_4}}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  <a:latin typeface="Calibri"/>
              </a:rPr>
              <a:t>CONTRIBUCIONES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EJES MISIONALES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999999"/>
                </a:solidFill>
                <a:latin typeface="Calibri"/>
              </a:rPr>
              <a:t>{{UNIDAD}}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MARCA PAÍS — LÍNEAS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{{MP_LE1_NOMBRE}}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{{MP_LE2_NOMBRE}}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{{MP_LE3_NOMBRE}}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7E22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{{MP_LE4_NOMBRE}}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MARCA PAÍS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{{MP_LE1_NOMBRE}}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{{MP_LE1_ACC_6}}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{{MP_LE1_ACT_6}}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{{MP_LE1_RES_4}}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MARCA PAÍS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{{MP_LE2_NOMBRE}}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{{MP_LE2_ACC_6}}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{{MP_LE2_ACT_6}}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{{MP_LE2_RES_4}}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MARCA PAÍS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{{MP_LE3_NOMBRE}}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{{MP_LE3_ACC_6}}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{{MP_LE3_ACT_6}}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{{MP_LE3_RES_4}}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MARCA PAÍS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{{MP_LE4_NOMBRE}}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{{MP_LE4_ACC_6}}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{{MP_LE4_ACT_6}}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{{MP_LE4_RES_4}}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VP TURISMO — LÍNEAS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980B9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{{TUR_LE1_NOMBRE}}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980B9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{{TUR_LE2_NOMBRE}}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980B9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{{TUR_LE3_NOMBRE}}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980B9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{{TUR_LE4_NOMBRE}}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TURISMO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{{TUR_LE1_NOMBRE}}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{{TUR_LE1_ACC_6}}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{{TUR_LE1_ACT_6}}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{{TUR_LE1_RES_4}}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TURISMO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{{TUR_LE2_NOMBRE}}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{{TUR_LE2_ACC_6}}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{{TUR_LE2_ACT_6}}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{{TUR_LE2_RES_4}}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TURISMO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{{TUR_LE3_NOMBRE}}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{{TUR_LE3_ACC_6}}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{{TUR_LE3_ACT_6}}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{{TUR_LE3_RES_4}}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TURISMO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980B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{{TUR_LE4_NOMBRE}}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{{TUR_LE4_ACC_6}}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{{TUR_LE4_ACT_6}}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{{TUR_LE4_RES_4}}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VP INVERSIÓN — LÍNEAS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AE60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{{INV_LE1_NOMBRE}}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AE60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{{INV_LE2_NOMBRE}}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27AE60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{{INV_LE3_NOMBRE}}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INVERSIÓN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{{INV_LE1_NOMBRE}}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{{INV_LE1_ACC_6}}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{{INV_LE1_ACT_6}}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{{INV_LE1_RES_4}}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INVERSIÓN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{{INV_LE2_NOMBRE}}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{{INV_LE2_ACC_6}}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{{INV_LE2_ACT_6}}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{{INV_LE2_RES_4}}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INVERSIÓN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{{INV_LE3_NOMBRE}}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{{INV_LE3_ACC_6}}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{{INV_LE3_ACT_6}}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{{INV_LE3_RES_4}}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VP EXPORTACIONES — LÍNEAS ESTRATÉGICAS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  <a:latin typeface="Calibri"/>
              </a:rPr>
              <a:t>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{{EXP_LE1_NOMBRE}}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19456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  <a:latin typeface="Calibri"/>
              </a:rPr>
              <a:t>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94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{{EXP_LE2_NOMBRE}}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  <a:latin typeface="Calibri"/>
              </a:rPr>
              <a:t>3.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474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{{EXP_LE3_NOMBRE}}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75487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C0392B"/>
                </a:solidFill>
                <a:latin typeface="Calibri"/>
              </a:rPr>
              <a:t>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4754879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85858"/>
                </a:solidFill>
                <a:latin typeface="Calibri"/>
              </a:rPr>
              <a:t>{{EXP_LE4_NOMBRE}}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EXPORTACIONES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{{EXP_LE1_NOMBRE}}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{{EXP_LE1_ACC_6}}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{{EXP_LE1_ACT_6}}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{{EXP_LE1_RES_4}}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EXPORTACIONES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{{EXP_LE2_NOMBRE}}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{{EXP_LE2_ACC_6}}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{{EXP_LE2_ACT_6}}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{{EXP_LE2_RES_4}}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EXPORTACIONES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{{EXP_LE3_NOMBRE}}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{{EXP_LE3_ACC_6}}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{{EXP_LE3_ACT_6}}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{{EXP_LE3_RES_4}}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Calibri"/>
              </a:rPr>
              <a:t>CONTRIBUCIÓN A VP EXPORTACIONES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47120" cy="274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LÍNEA ESTRATÉGICA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E6DA4"/>
                </a:solidFill>
                <a:latin typeface="Calibri"/>
              </a:rPr>
              <a:t>{{EXP_LE4_NOMBRE}}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ACCIONES {{TIPO}} — {{TRIMESTRE}}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691640"/>
            <a:ext cx="548640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ACTIVIDADES CLAVE — {{TRIMESTRE}}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{{EXP_LE4_ACC_1}}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057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{{EXP_LE4_ACT_1}}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40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{{EXP_LE4_AVA_1}}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{{EXP_LE4_ACC_2}}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5146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{{EXP_LE4_ACT_2}}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974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{{EXP_LE4_AVA_2}}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{{EXP_LE4_ACC_3}}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9718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{{EXP_LE4_ACT_3}}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{{EXP_LE4_AVA_3}}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{{EXP_LE4_ACC_4}}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34290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{{EXP_LE4_ACT_4}}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6118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{{EXP_LE4_AVA_4}}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{{EXP_LE4_ACC_5}}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8862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{{EXP_LE4_ACT_5}}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0690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{{EXP_LE4_AVA_5}}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33333"/>
                </a:solidFill>
                <a:latin typeface="Calibri"/>
              </a:rPr>
              <a:t>{{EXP_LE4_ACC_6}}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343400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85858"/>
                </a:solidFill>
                <a:latin typeface="Calibri"/>
              </a:rPr>
              <a:t>{{EXP_LE4_ACT_6}}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526280"/>
            <a:ext cx="11247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{{EXP_LE4_AVA_6}}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5029200"/>
            <a:ext cx="11247120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INDICADORES — {{AÑO}}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3949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{{EXP_LE4_IND_1}}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912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{{EXP_LE4_META_1}}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949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{{EXP_LE4_RES_1}}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{{EXP_LE4_IND_2}}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{{EXP_LE4_META_2}}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6692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{{EXP_LE4_RES_2}}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943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{{EXP_LE4_IND_3}}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{{EXP_LE4_META_3}}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9436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{{EXP_LE4_RES_3}}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2179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{{EXP_LE4_IND_4}}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{{EXP_LE4_META_4}}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6217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585858"/>
                </a:solidFill>
                <a:latin typeface="Calibri"/>
              </a:rPr>
              <a:t>{{EXP_LE4_RES_4}}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METAS GENERALES — {{UNIDAD}}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91440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Indicador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Meta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Avance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% Avance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{{META_2_IND}}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{{META_2_META}}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{{META_2_AVA}}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{{META_3_IND}}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{{META_3_META}}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{{META_3_AVA}}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{{META_4_IND}}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{{META_4_META}}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{{META_4_AVA}}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{{META_5_IND}}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{{META_5_META}}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{{META_5_AVA}}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{{META_6_IND}}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{{META_6_META}}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{{META_6_AVA}}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{{META_7_IND}}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{{META_7_META}}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{{META_7_AVA}}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{{META_8_IND}}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{{META_8_META}}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{{META_8_AVA}}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{{META_9_IND}}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{{META_9_META}}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{{META_9_AVA}}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{{META_10_IND}}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{{META_10_META}}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  <a:r>
                        <a:t>{{META_10_AVA}}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latin typeface="Calibri"/>
                        </a:defRPr>
                      </a:p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PRESUPUESTO — {{UNIDAD}}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85858"/>
                </a:solidFill>
                <a:latin typeface="Calibri"/>
              </a:rPr>
              <a:t>{{PRESUPUESTO}}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999999"/>
                </a:solidFill>
                <a:latin typeface="Calibri"/>
              </a:rPr>
              <a:t>{{UNIDAD}} — ProColombia {{AÑO}}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
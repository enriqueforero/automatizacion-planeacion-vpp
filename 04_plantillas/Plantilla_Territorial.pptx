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SEGUIMIENTO {{TRIMESTRE}}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{{UNIDAD}}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99999"/>
                </a:solidFill>
                <a:latin typeface="Calibri"/>
              </a:rPr>
              <a:t>Planeación Estratégica {{AÑO}} — ProColombia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latin typeface="Calibri"/>
              </a:rPr>
              <a:t>{{TIPO}}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{{TIPO}} — {{UNIDAD}}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B3A5C"/>
                </a:solidFill>
                <a:latin typeface="Calibri"/>
              </a:rPr>
              <a:t>{{UNIDAD}}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TENDENCIAS DESDE {{UNIDAD}}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3657600" cy="274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TURISMO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3A5C"/>
                </a:solidFill>
                <a:latin typeface="Calibri"/>
              </a:rPr>
              <a:t>Tendencias: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{{TEND_TUR}}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8346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3A5C"/>
                </a:solidFill>
                <a:latin typeface="Calibri"/>
              </a:rPr>
              <a:t>Foco / Prioridades: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0175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{{FOCO_TUR}}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5720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3A5C"/>
                </a:solidFill>
                <a:latin typeface="Calibri"/>
              </a:rPr>
              <a:t>Aporte: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7548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{{APORTE_TUR}}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777240"/>
            <a:ext cx="365760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INVERSIÓN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1430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3A5C"/>
                </a:solidFill>
                <a:latin typeface="Calibri"/>
              </a:rPr>
              <a:t>Tendencias: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3258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{{TEND_INV}}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8346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3A5C"/>
                </a:solidFill>
                <a:latin typeface="Calibri"/>
              </a:rPr>
              <a:t>Foco / Prioridades: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0175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{{FOCO_INV}}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5720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3A5C"/>
                </a:solidFill>
                <a:latin typeface="Calibri"/>
              </a:rPr>
              <a:t>Aporte: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7548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{{APORTE_INV}}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777240"/>
            <a:ext cx="365760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EXPORTACIONES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11430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3A5C"/>
                </a:solidFill>
                <a:latin typeface="Calibri"/>
              </a:rPr>
              <a:t>Tendencias: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13258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{{TEND_EXP}}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8346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3A5C"/>
                </a:solidFill>
                <a:latin typeface="Calibri"/>
              </a:rPr>
              <a:t>Foco / Prioridades: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0175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{{FOCO_EXP}}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5720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3A5C"/>
                </a:solidFill>
                <a:latin typeface="Calibri"/>
              </a:rPr>
              <a:t>Aporte: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7548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{{APORTE_EXP}}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DOFA — {{UNIDAD}}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53035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DEBILIDADES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{{DEB_BASE_1}}
{{DEB_BASE_2}}
{{DEB_BASE_3}}
{{DEB_BASE_4}}
{{DEB_BASE_5}}
{{DEB_BASE_6}}
{{DEB_BASE_7}}
{{DEB_BASE_8}}
{{DEB_BASE_9}}
{{DEB_BASE_10}}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777240"/>
            <a:ext cx="5303520" cy="2743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OPORTUNIDADES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972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{{OPO_BASE_1}}
{{OPO_BASE_2}}
{{OPO_BASE_3}}
{{OPO_BASE_4}}
{{OPO_BASE_5}}
{{OPO_BASE_6}}
{{OPO_BASE_7}}
{{OPO_BASE_8}}
{{OPO_BASE_9}}
{{OPO_BASE_10}}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520440"/>
            <a:ext cx="530352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FORTALEZAS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{{FOR_BASE_1}}
{{FOR_BASE_2}}
{{FOR_BASE_3}}
{{FOR_BASE_4}}
{{FOR_BASE_5}}
{{FOR_BASE_6}}
{{FOR_BASE_7}}
{{FOR_BASE_8}}
{{FOR_BASE_9}}
{{FOR_BASE_10}}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520440"/>
            <a:ext cx="5303520" cy="2743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AMENAZAS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8404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{{AME_BASE_1}}
{{AME_BASE_2}}
{{AME_BASE_3}}
{{AME_BASE_4}}
{{AME_BASE_5}}
{{AME_BASE_6}}
{{AME_BASE_7}}
{{AME_BASE_8}}
{{AME_BASE_9}}
{{AME_BASE_10}}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HOJA DE RUTA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999999"/>
                </a:solidFill>
                <a:latin typeface="Calibri"/>
              </a:rPr>
              <a:t>{{UNIDAD}}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MARCA PAÍS — LÍNEAS ESTRATÉGICAS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7E22"/>
                </a:solidFill>
                <a:latin typeface="Calibri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{{MP_LE1_NOMBRE}}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7E22"/>
                </a:solidFill>
                <a:latin typeface="Calibri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{{MP_LE2_NOMBRE}}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7E22"/>
                </a:solidFill>
                <a:latin typeface="Calibri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{{MP_LE3_NOMBRE}}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5487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7E22"/>
                </a:solidFill>
                <a:latin typeface="Calibri"/>
              </a:rP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7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{{MP_LE4_NOMBRE}}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CONTRIBUCIÓN A MARCA PAÍS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{{MP_LE1_NOMBRE}}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{{TIPO}}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 — {{TRIMESTRE}}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{{MP_LE1_ACC_1}}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{{MP_LE1_ACT_1}}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{{MP_LE1_ACC_2}}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{{MP_LE1_ACT_2}}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{{MP_LE1_ACC_3}}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{{MP_LE1_ACT_3}}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{{MP_LE1_ACC_4}}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{{MP_LE1_ACT_4}}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{{MP_LE1_ACC_5}}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{{MP_LE1_ACT_5}}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{{MP_LE1_ACC_6}}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{{MP_LE1_ACT_6}}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{{MP_LE1_RES_4}}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CONTRIBUCIÓN A MARCA PAÍS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{{MP_LE2_NOMBRE}}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{{TIPO}}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 — {{TRIMESTRE}}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{{MP_LE2_ACC_1}}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{{MP_LE2_ACT_1}}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{{MP_LE2_ACC_2}}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{{MP_LE2_ACT_2}}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{{MP_LE2_ACC_3}}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{{MP_LE2_ACT_3}}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{{MP_LE2_ACC_4}}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{{MP_LE2_ACT_4}}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{{MP_LE2_ACC_5}}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{{MP_LE2_ACT_5}}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{{MP_LE2_ACC_6}}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{{MP_LE2_ACT_6}}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{{MP_LE2_RES_4}}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CONTRIBUCIÓN A MARCA PAÍS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{{MP_LE3_NOMBRE}}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{{TIPO}}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 — {{TRIMESTRE}}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{{MP_LE3_ACC_1}}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{{MP_LE3_ACT_1}}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{{MP_LE3_ACC_2}}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{{MP_LE3_ACT_2}}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{{MP_LE3_ACC_3}}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{{MP_LE3_ACT_3}}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{{MP_LE3_ACC_4}}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{{MP_LE3_ACT_4}}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{{MP_LE3_ACC_5}}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{{MP_LE3_ACT_5}}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{{MP_LE3_ACC_6}}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{{MP_LE3_ACT_6}}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{{MP_LE3_RES_4}}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CONTRIBUCIÓN A MARCA PAÍS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{{MP_LE4_NOMBRE}}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{{TIPO}}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 — {{TRIMESTRE}}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{{MP_LE4_ACC_1}}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{{MP_LE4_ACT_1}}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{{MP_LE4_ACC_2}}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{{MP_LE4_ACT_2}}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{{MP_LE4_ACC_3}}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{{MP_LE4_ACT_3}}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{{MP_LE4_ACC_4}}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{{MP_LE4_ACT_4}}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{{MP_LE4_ACC_5}}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{{MP_LE4_ACT_5}}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{{MP_LE4_ACC_6}}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{{MP_LE4_ACT_6}}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{{MP_LE4_RES_4}}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VP TURISMO — LÍNEAS ESTRATÉGICAS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980B9"/>
                </a:solidFill>
                <a:latin typeface="Calibri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{{TUR_LE1_NOMBRE}}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980B9"/>
                </a:solidFill>
                <a:latin typeface="Calibri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{{TUR_LE2_NOMBRE}}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980B9"/>
                </a:solidFill>
                <a:latin typeface="Calibri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{{TUR_LE3_NOMBRE}}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5487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980B9"/>
                </a:solidFill>
                <a:latin typeface="Calibri"/>
              </a:rP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7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{{TUR_LE4_NOMBRE}}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CONTRIBUCIÓN A VP TURISMO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{{TUR_LE1_NOMBRE}}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{{TIPO}}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 — {{TRIMESTRE}}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{{TUR_LE1_ACC_1}}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{{TUR_LE1_ACT_1}}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{{TUR_LE1_ACC_2}}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{{TUR_LE1_ACT_2}}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{{TUR_LE1_ACC_3}}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{{TUR_LE1_ACT_3}}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{{TUR_LE1_ACC_4}}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{{TUR_LE1_ACT_4}}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{{TUR_LE1_ACC_5}}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{{TUR_LE1_ACT_5}}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{{TUR_LE1_ACC_6}}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{{TUR_LE1_ACT_6}}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{{TUR_LE1_RES_4}}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CONTRIBUCIÓN A VP TURISMO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{{TUR_LE2_NOMBRE}}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{{TIPO}}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 — {{TRIMESTRE}}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{{TUR_LE2_ACC_1}}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{{TUR_LE2_ACT_1}}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{{TUR_LE2_ACC_2}}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{{TUR_LE2_ACT_2}}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{{TUR_LE2_ACC_3}}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{{TUR_LE2_ACT_3}}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{{TUR_LE2_ACC_4}}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{{TUR_LE2_ACT_4}}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{{TUR_LE2_ACC_5}}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{{TUR_LE2_ACT_5}}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{{TUR_LE2_ACC_6}}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{{TUR_LE2_ACT_6}}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{{TUR_LE2_RES_4}}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CONTRIBUCIÓN A VP TURISMO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{{TUR_LE3_NOMBRE}}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{{TIPO}}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 — {{TRIMESTRE}}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{{TUR_LE3_ACC_1}}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{{TUR_LE3_ACT_1}}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{{TUR_LE3_ACC_2}}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{{TUR_LE3_ACT_2}}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{{TUR_LE3_ACC_3}}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{{TUR_LE3_ACT_3}}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{{TUR_LE3_ACC_4}}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{{TUR_LE3_ACT_4}}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{{TUR_LE3_ACC_5}}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{{TUR_LE3_ACT_5}}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{{TUR_LE3_ACC_6}}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{{TUR_LE3_ACT_6}}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{{TUR_LE3_RES_4}}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CONTRIBUCIÓN A VP TURISMO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{{TUR_LE4_NOMBRE}}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{{TIPO}}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 — {{TRIMESTRE}}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{{TUR_LE4_ACC_1}}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{{TUR_LE4_ACT_1}}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{{TUR_LE4_ACC_2}}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{{TUR_LE4_ACT_2}}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{{TUR_LE4_ACC_3}}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{{TUR_LE4_ACT_3}}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{{TUR_LE4_ACC_4}}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{{TUR_LE4_ACT_4}}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{{TUR_LE4_ACC_5}}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{{TUR_LE4_ACT_5}}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{{TUR_LE4_ACC_6}}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{{TUR_LE4_ACT_6}}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{{TUR_LE4_RES_4}}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VP INVERSIÓN — LÍNEAS ESTRATÉGICAS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7AE60"/>
                </a:solidFill>
                <a:latin typeface="Calibri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{{INV_LE1_NOMBRE}}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7AE60"/>
                </a:solidFill>
                <a:latin typeface="Calibri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{{INV_LE2_NOMBRE}}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7AE60"/>
                </a:solidFill>
                <a:latin typeface="Calibri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{{INV_LE3_NOMBRE}}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CONTRIBUCIÓN A VP INVERSIÓN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{{INV_LE1_NOMBRE}}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{{TIPO}}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 — {{TRIMESTRE}}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{{INV_LE1_ACC_1}}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{{INV_LE1_ACT_1}}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{{INV_LE1_ACC_2}}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{{INV_LE1_ACT_2}}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{{INV_LE1_ACC_3}}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{{INV_LE1_ACT_3}}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{{INV_LE1_ACC_4}}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{{INV_LE1_ACT_4}}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{{INV_LE1_ACC_5}}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{{INV_LE1_ACT_5}}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{{INV_LE1_ACC_6}}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{{INV_LE1_ACT_6}}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{{INV_LE1_RES_4}}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CONTRIBUCIÓN A VP INVERSIÓN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{{INV_LE2_NOMBRE}}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{{TIPO}}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 — {{TRIMESTRE}}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{{INV_LE2_ACC_1}}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{{INV_LE2_ACT_1}}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{{INV_LE2_ACC_2}}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{{INV_LE2_ACT_2}}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{{INV_LE2_ACC_3}}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{{INV_LE2_ACT_3}}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{{INV_LE2_ACC_4}}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{{INV_LE2_ACT_4}}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{{INV_LE2_ACC_5}}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{{INV_LE2_ACT_5}}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{{INV_LE2_ACC_6}}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{{INV_LE2_ACT_6}}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{{INV_LE2_RES_4}}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CONTRIBUCIÓN A VP INVERSIÓN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{{INV_LE3_NOMBRE}}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{{TIPO}}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 — {{TRIMESTRE}}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{{INV_LE3_ACC_1}}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{{INV_LE3_ACT_1}}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{{INV_LE3_ACC_2}}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{{INV_LE3_ACT_2}}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{{INV_LE3_ACC_3}}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{{INV_LE3_ACT_3}}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{{INV_LE3_ACC_4}}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{{INV_LE3_ACT_4}}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{{INV_LE3_ACC_5}}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{{INV_LE3_ACT_5}}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{{INV_LE3_ACC_6}}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{{INV_LE3_ACT_6}}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{{INV_LE3_RES_4}}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VP EXPORTACIONES — LÍNEAS ESTRATÉGICAS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392B"/>
                </a:solidFill>
                <a:latin typeface="Calibri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{{EXP_LE1_NOMBRE}}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392B"/>
                </a:solidFill>
                <a:latin typeface="Calibri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{{EXP_LE2_NOMBRE}}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392B"/>
                </a:solidFill>
                <a:latin typeface="Calibri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{{EXP_LE3_NOMBRE}}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5487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392B"/>
                </a:solidFill>
                <a:latin typeface="Calibri"/>
              </a:rP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7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{{EXP_LE4_NOMBRE}}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CONTRIBUCIÓN A VP EXPORTACIONES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{{EXP_LE1_NOMBRE}}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{{TIPO}}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 — {{TRIMESTRE}}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{{EXP_LE1_ACC_1}}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{{EXP_LE1_ACT_1}}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{{EXP_LE1_ACC_2}}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{{EXP_LE1_ACT_2}}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{{EXP_LE1_ACC_3}}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{{EXP_LE1_ACT_3}}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{{EXP_LE1_ACC_4}}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{{EXP_LE1_ACT_4}}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{{EXP_LE1_ACC_5}}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{{EXP_LE1_ACT_5}}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{{EXP_LE1_ACC_6}}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{{EXP_LE1_ACT_6}}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{{EXP_LE1_RES_4}}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CONTRIBUCIÓN A VP EXPORTACIONES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{{EXP_LE2_NOMBRE}}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{{TIPO}}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 — {{TRIMESTRE}}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{{EXP_LE2_ACC_1}}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{{EXP_LE2_ACT_1}}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{{EXP_LE2_ACC_2}}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{{EXP_LE2_ACT_2}}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{{EXP_LE2_ACC_3}}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{{EXP_LE2_ACT_3}}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{{EXP_LE2_ACC_4}}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{{EXP_LE2_ACT_4}}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{{EXP_LE2_ACC_5}}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{{EXP_LE2_ACT_5}}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{{EXP_LE2_ACC_6}}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{{EXP_LE2_ACT_6}}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{{EXP_LE2_RES_4}}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CONTRIBUCIÓN A VP EXPORTACIONES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{{EXP_LE3_NOMBRE}}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{{TIPO}}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 — {{TRIMESTRE}}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{{EXP_LE3_ACC_1}}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{{EXP_LE3_ACT_1}}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{{EXP_LE3_ACC_2}}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{{EXP_LE3_ACT_2}}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{{EXP_LE3_ACC_3}}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{{EXP_LE3_ACT_3}}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{{EXP_LE3_ACC_4}}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{{EXP_LE3_ACT_4}}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{{EXP_LE3_ACC_5}}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{{EXP_LE3_ACT_5}}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{{EXP_LE3_ACC_6}}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{{EXP_LE3_ACT_6}}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{{EXP_LE3_RES_4}}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CONTRIBUCIÓN A VP EXPORTACIONES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{{EXP_LE4_NOMBRE}}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{{TIPO}}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 — {{TRIMESTRE}}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{{EXP_LE4_ACC_1}}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{{EXP_LE4_ACT_1}}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{{EXP_LE4_ACC_2}}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{{EXP_LE4_ACT_2}}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{{EXP_LE4_ACC_3}}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{{EXP_LE4_ACT_3}}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{{EXP_LE4_ACC_4}}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{{EXP_LE4_ACT_4}}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{{EXP_LE4_ACC_5}}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{{EXP_LE4_ACT_5}}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{{EXP_LE4_ACC_6}}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{{EXP_LE4_ACT_6}}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{{EXP_LE4_RES_4}}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METAS GENERALES — {{UNIDAD}}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1440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Indicador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Meta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Avance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% Avance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{{META_1_IND}}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{{META_1_META}}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{{META_1_AVA}}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{{META_2_IND}}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{{META_2_META}}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{{META_2_AVA}}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{{META_3_IND}}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{{META_3_META}}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{{META_3_AVA}}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{{META_4_IND}}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{{META_4_META}}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{{META_4_AVA}}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{{META_5_IND}}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{{META_5_META}}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{{META_5_AVA}}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{{META_6_IND}}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{{META_6_META}}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{{META_6_AVA}}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{{META_7_IND}}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{{META_7_META}}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{{META_7_AVA}}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{{META_8_IND}}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{{META_8_META}}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{{META_8_AVA}}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{{META_9_IND}}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{{META_9_META}}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{{META_9_AVA}}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{{META_10_IND}}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{{META_10_META}}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{{META_10_AVA}}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PRESUPUESTO — {{UNIDAD}}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85858"/>
                </a:solidFill>
                <a:latin typeface="Calibri"/>
              </a:rPr>
              <a:t>{{PRESUPUESTO}}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99999"/>
                </a:solidFill>
                <a:latin typeface="Calibri"/>
              </a:rPr>
              <a:t>{{UNIDAD}} — ProColombia {{AÑO}}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